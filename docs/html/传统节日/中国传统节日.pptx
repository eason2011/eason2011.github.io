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0" r:id="rId4"/>
    <p:sldId id="257" r:id="rId5"/>
    <p:sldId id="258" r:id="rId6"/>
    <p:sldId id="259" r:id="rId7"/>
    <p:sldId id="261" r:id="rId8"/>
    <p:sldId id="263" r:id="rId9"/>
    <p:sldId id="265" r:id="rId10"/>
    <p:sldId id="266" r:id="rId11"/>
    <p:sldId id="267" r:id="rId12"/>
    <p:sldId id="269" r:id="rId13"/>
    <p:sldId id="270" r:id="rId14"/>
    <p:sldId id="272" r:id="rId15"/>
    <p:sldId id="274" r:id="rId16"/>
    <p:sldId id="276" r:id="rId17"/>
    <p:sldId id="277" r:id="rId18"/>
    <p:sldId id="279" r:id="rId19"/>
    <p:sldId id="281" r:id="rId20"/>
    <p:sldId id="283"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59"/>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5.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6.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7.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8.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9.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0.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2.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3.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4.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5.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6.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7.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8.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9.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0.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1.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2.xml"/><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6340" y="1579880"/>
            <a:ext cx="9799320" cy="1304290"/>
          </a:xfrm>
        </p:spPr>
        <p:txBody>
          <a:bodyPr>
            <a:normAutofit fontScale="90000"/>
          </a:bodyPr>
          <a:p>
            <a:r>
              <a:rPr lang="zh-CN" altLang="zh-CN" sz="9780">
                <a:solidFill>
                  <a:schemeClr val="accent4">
                    <a:lumMod val="40000"/>
                    <a:lumOff val="60000"/>
                  </a:schemeClr>
                </a:solidFill>
                <a:latin typeface="楷体" panose="02010609060101010101" charset="-122"/>
                <a:ea typeface="楷体" panose="02010609060101010101" charset="-122"/>
              </a:rPr>
              <a:t>中国传统节日</a:t>
            </a:r>
            <a:endParaRPr lang="zh-CN" altLang="zh-CN" sz="9780">
              <a:solidFill>
                <a:schemeClr val="accent4">
                  <a:lumMod val="40000"/>
                  <a:lumOff val="60000"/>
                </a:schemeClr>
              </a:solidFill>
              <a:latin typeface="楷体" panose="02010609060101010101" charset="-122"/>
              <a:ea typeface="楷体" panose="02010609060101010101" charset="-122"/>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102" name="图片 101"/>
          <p:cNvPicPr/>
          <p:nvPr/>
        </p:nvPicPr>
        <p:blipFill>
          <a:blip r:embed="rId1"/>
          <a:srcRect r="3002"/>
          <a:stretch>
            <a:fillRect/>
          </a:stretch>
        </p:blipFill>
        <p:spPr>
          <a:xfrm>
            <a:off x="2924175" y="528955"/>
            <a:ext cx="6343650" cy="5800090"/>
          </a:xfrm>
          <a:prstGeom prst="rect">
            <a:avLst/>
          </a:prstGeom>
          <a:noFill/>
          <a:ln w="9525">
            <a:noFill/>
          </a:ln>
        </p:spPr>
      </p:pic>
      <p:sp>
        <p:nvSpPr>
          <p:cNvPr id="2" name="文本框 1"/>
          <p:cNvSpPr txBox="1"/>
          <p:nvPr/>
        </p:nvSpPr>
        <p:spPr>
          <a:xfrm>
            <a:off x="8183880" y="4695190"/>
            <a:ext cx="3351530" cy="1198880"/>
          </a:xfrm>
          <a:prstGeom prst="rect">
            <a:avLst/>
          </a:prstGeom>
          <a:noFill/>
        </p:spPr>
        <p:txBody>
          <a:bodyPr wrap="square" rtlCol="0">
            <a:spAutoFit/>
          </a:bodyPr>
          <a:p>
            <a:r>
              <a:rPr lang="en-US" altLang="zh-CN" sz="7200">
                <a:latin typeface="楷体" panose="02010609060101010101" charset="-122"/>
                <a:ea typeface="楷体" panose="02010609060101010101" charset="-122"/>
                <a:cs typeface="楷体" panose="02010609060101010101" charset="-122"/>
              </a:rPr>
              <a:t>1.</a:t>
            </a:r>
            <a:r>
              <a:rPr lang="zh-CN" altLang="en-US" sz="7200">
                <a:latin typeface="楷体" panose="02010609060101010101" charset="-122"/>
                <a:ea typeface="楷体" panose="02010609060101010101" charset="-122"/>
                <a:cs typeface="楷体" panose="02010609060101010101" charset="-122"/>
              </a:rPr>
              <a:t>春节</a:t>
            </a:r>
            <a:endParaRPr lang="zh-CN" altLang="en-US" sz="7200">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p:nvPr/>
        </p:nvPicPr>
        <p:blipFill>
          <a:blip r:embed="rId1"/>
          <a:srcRect r="3002"/>
          <a:stretch>
            <a:fillRect/>
          </a:stretch>
        </p:blipFill>
        <p:spPr>
          <a:xfrm>
            <a:off x="8284845" y="-283845"/>
            <a:ext cx="4593590" cy="4200525"/>
          </a:xfrm>
          <a:prstGeom prst="rect">
            <a:avLst/>
          </a:prstGeom>
          <a:noFill/>
          <a:ln w="9525">
            <a:noFill/>
          </a:ln>
        </p:spPr>
      </p:pic>
      <p:sp>
        <p:nvSpPr>
          <p:cNvPr id="5" name="文本框 4"/>
          <p:cNvSpPr txBox="1"/>
          <p:nvPr/>
        </p:nvSpPr>
        <p:spPr>
          <a:xfrm>
            <a:off x="730250" y="253365"/>
            <a:ext cx="1114425" cy="645160"/>
          </a:xfrm>
          <a:prstGeom prst="rect">
            <a:avLst/>
          </a:prstGeom>
          <a:noFill/>
        </p:spPr>
        <p:txBody>
          <a:bodyPr wrap="square" rtlCol="0">
            <a:spAutoFit/>
          </a:bodyPr>
          <a:p>
            <a:r>
              <a:rPr lang="zh-CN" altLang="en-US" sz="3600">
                <a:latin typeface="楷体" panose="02010609060101010101" charset="-122"/>
                <a:ea typeface="楷体" panose="02010609060101010101" charset="-122"/>
              </a:rPr>
              <a:t>春节</a:t>
            </a:r>
            <a:endParaRPr lang="zh-CN" altLang="en-US" sz="3600">
              <a:latin typeface="楷体" panose="02010609060101010101" charset="-122"/>
              <a:ea typeface="楷体" panose="02010609060101010101" charset="-122"/>
            </a:endParaRPr>
          </a:p>
        </p:txBody>
      </p:sp>
      <p:sp>
        <p:nvSpPr>
          <p:cNvPr id="6" name="文本框 5"/>
          <p:cNvSpPr txBox="1"/>
          <p:nvPr/>
        </p:nvSpPr>
        <p:spPr>
          <a:xfrm>
            <a:off x="1082675" y="898525"/>
            <a:ext cx="11109325" cy="5507990"/>
          </a:xfrm>
          <a:prstGeom prst="rect">
            <a:avLst/>
          </a:prstGeom>
          <a:noFill/>
        </p:spPr>
        <p:txBody>
          <a:bodyPr wrap="square" rtlCol="0">
            <a:spAutoFit/>
          </a:bodyPr>
          <a:p>
            <a:r>
              <a:rPr lang="zh-CN" altLang="en-US" sz="2200">
                <a:latin typeface="楷体" panose="02010609060101010101" charset="-122"/>
                <a:ea typeface="楷体" panose="02010609060101010101" charset="-122"/>
                <a:cs typeface="楷体" panose="02010609060101010101" charset="-122"/>
              </a:rPr>
              <a:t>现代民间习惯上把过春节又叫做过年。其实，年和春节的起源是很不</a:t>
            </a:r>
            <a:endParaRPr lang="zh-CN" altLang="en-US" sz="2200">
              <a:latin typeface="楷体" panose="02010609060101010101" charset="-122"/>
              <a:ea typeface="楷体" panose="02010609060101010101" charset="-122"/>
              <a:cs typeface="楷体" panose="02010609060101010101" charset="-122"/>
            </a:endParaRPr>
          </a:p>
          <a:p>
            <a:r>
              <a:rPr lang="zh-CN" altLang="en-US" sz="2200">
                <a:latin typeface="楷体" panose="02010609060101010101" charset="-122"/>
                <a:ea typeface="楷体" panose="02010609060101010101" charset="-122"/>
                <a:cs typeface="楷体" panose="02010609060101010101" charset="-122"/>
              </a:rPr>
              <a:t>相同的。</a:t>
            </a:r>
            <a:endParaRPr lang="zh-CN" altLang="en-US" sz="2200">
              <a:latin typeface="楷体" panose="02010609060101010101" charset="-122"/>
              <a:ea typeface="楷体" panose="02010609060101010101" charset="-122"/>
              <a:cs typeface="楷体" panose="02010609060101010101" charset="-122"/>
            </a:endParaRPr>
          </a:p>
          <a:p>
            <a:r>
              <a:rPr lang="zh-CN" altLang="en-US" sz="2200">
                <a:latin typeface="楷体" panose="02010609060101010101" charset="-122"/>
                <a:ea typeface="楷体" panose="02010609060101010101" charset="-122"/>
                <a:cs typeface="楷体" panose="02010609060101010101" charset="-122"/>
              </a:rPr>
              <a:t>　　那么"年"究竟是怎么样来的呢？民间主要有两种说法：一种说的</a:t>
            </a:r>
            <a:endParaRPr lang="zh-CN" altLang="en-US" sz="2200">
              <a:latin typeface="楷体" panose="02010609060101010101" charset="-122"/>
              <a:ea typeface="楷体" panose="02010609060101010101" charset="-122"/>
              <a:cs typeface="楷体" panose="02010609060101010101" charset="-122"/>
            </a:endParaRPr>
          </a:p>
          <a:p>
            <a:r>
              <a:rPr lang="zh-CN" altLang="en-US" sz="2200">
                <a:latin typeface="楷体" panose="02010609060101010101" charset="-122"/>
                <a:ea typeface="楷体" panose="02010609060101010101" charset="-122"/>
                <a:cs typeface="楷体" panose="02010609060101010101" charset="-122"/>
              </a:rPr>
              <a:t>是，古时候，有一种叫做"年"的凶猛怪兽，每到腊月三十，便窜村挨</a:t>
            </a:r>
            <a:endParaRPr lang="zh-CN" altLang="en-US" sz="2200">
              <a:latin typeface="楷体" panose="02010609060101010101" charset="-122"/>
              <a:ea typeface="楷体" panose="02010609060101010101" charset="-122"/>
              <a:cs typeface="楷体" panose="02010609060101010101" charset="-122"/>
            </a:endParaRPr>
          </a:p>
          <a:p>
            <a:r>
              <a:rPr lang="zh-CN" altLang="en-US" sz="2200">
                <a:latin typeface="楷体" panose="02010609060101010101" charset="-122"/>
                <a:ea typeface="楷体" panose="02010609060101010101" charset="-122"/>
                <a:cs typeface="楷体" panose="02010609060101010101" charset="-122"/>
              </a:rPr>
              <a:t>户，觅食人肉，残害生灵。有一个腊月三十晚上，"年"到了一个村庄，</a:t>
            </a:r>
            <a:endParaRPr lang="zh-CN" altLang="en-US" sz="2200">
              <a:latin typeface="楷体" panose="02010609060101010101" charset="-122"/>
              <a:ea typeface="楷体" panose="02010609060101010101" charset="-122"/>
              <a:cs typeface="楷体" panose="02010609060101010101" charset="-122"/>
            </a:endParaRPr>
          </a:p>
          <a:p>
            <a:r>
              <a:rPr lang="zh-CN" altLang="en-US" sz="2200">
                <a:latin typeface="楷体" panose="02010609060101010101" charset="-122"/>
                <a:ea typeface="楷体" panose="02010609060101010101" charset="-122"/>
                <a:cs typeface="楷体" panose="02010609060101010101" charset="-122"/>
              </a:rPr>
              <a:t>适逢两个牧童在比赛牛鞭子。"年"忽闻半空中响起了啪啪的鞭声，吓得望</a:t>
            </a:r>
            <a:r>
              <a:rPr lang="en-US" altLang="zh-CN" sz="2200">
                <a:latin typeface="楷体" panose="02010609060101010101" charset="-122"/>
                <a:ea typeface="楷体" panose="02010609060101010101" charset="-122"/>
                <a:cs typeface="楷体" panose="02010609060101010101" charset="-122"/>
              </a:rPr>
              <a:t>       </a:t>
            </a:r>
            <a:r>
              <a:rPr lang="zh-CN" altLang="en-US" sz="2200">
                <a:latin typeface="楷体" panose="02010609060101010101" charset="-122"/>
                <a:ea typeface="楷体" panose="02010609060101010101" charset="-122"/>
                <a:cs typeface="楷体" panose="02010609060101010101" charset="-122"/>
              </a:rPr>
              <a:t>风而逃。它窜到另一个村庄，又迎头望到了一家门口晒着件大红衣裳，它不知其为何物吓得赶紧掉头逃跑。后来它又来到了一个村庄，朝一户人家门里一瞧，只见里面灯火辉煌，刺得它头昏眼花，只好又夹着尾巴溜了。人们由此摸准了"年"有怕响，怕红，怕光的弱点，便想到许多抵御它的方法，于是逐渐演化成今天过年的风俗。</a:t>
            </a:r>
            <a:endParaRPr lang="zh-CN" altLang="en-US" sz="2200">
              <a:latin typeface="楷体" panose="02010609060101010101" charset="-122"/>
              <a:ea typeface="楷体" panose="02010609060101010101" charset="-122"/>
              <a:cs typeface="楷体" panose="02010609060101010101" charset="-122"/>
            </a:endParaRPr>
          </a:p>
          <a:p>
            <a:r>
              <a:rPr lang="zh-CN" altLang="en-US" sz="2200">
                <a:latin typeface="楷体" panose="02010609060101010101" charset="-122"/>
                <a:ea typeface="楷体" panose="02010609060101010101" charset="-122"/>
                <a:cs typeface="楷体" panose="02010609060101010101" charset="-122"/>
              </a:rPr>
              <a:t>　　另一种说法是，我国古代的字书把"年"字放禾部，以示风调雨顺，五谷丰登。由于谷禾一般都是一年一熟。所"年"便被引申为岁名了。</a:t>
            </a:r>
            <a:endParaRPr lang="zh-CN" altLang="en-US" sz="2200">
              <a:latin typeface="楷体" panose="02010609060101010101" charset="-122"/>
              <a:ea typeface="楷体" panose="02010609060101010101" charset="-122"/>
              <a:cs typeface="楷体" panose="02010609060101010101" charset="-122"/>
            </a:endParaRPr>
          </a:p>
          <a:p>
            <a:r>
              <a:rPr lang="zh-CN" altLang="en-US" sz="2200">
                <a:latin typeface="楷体" panose="02010609060101010101" charset="-122"/>
                <a:ea typeface="楷体" panose="02010609060101010101" charset="-122"/>
                <a:cs typeface="楷体" panose="02010609060101010101" charset="-122"/>
              </a:rPr>
              <a:t>　　我国古代民间虽然早已有过年的风俗，但那时并不叫做春节。因为那时所说的春节，指的是二十四节气中的"立春"。</a:t>
            </a:r>
            <a:endParaRPr lang="zh-CN" altLang="en-US" sz="2200">
              <a:latin typeface="楷体" panose="02010609060101010101" charset="-122"/>
              <a:ea typeface="楷体" panose="02010609060101010101" charset="-122"/>
              <a:cs typeface="楷体" panose="02010609060101010101" charset="-122"/>
            </a:endParaRPr>
          </a:p>
          <a:p>
            <a:r>
              <a:rPr lang="zh-CN" altLang="en-US" sz="2200">
                <a:latin typeface="楷体" panose="02010609060101010101" charset="-122"/>
                <a:ea typeface="楷体" panose="02010609060101010101" charset="-122"/>
                <a:cs typeface="楷体" panose="02010609060101010101" charset="-122"/>
              </a:rPr>
              <a:t>南北朝则把春节泛指为整个春季。据说，把农历新年正式定名为春节，是辛亥革命后的事。由于那时要改用阳历，为了区分农、阳两节，所以只好将农历正月初一改名为"春节"。</a:t>
            </a:r>
            <a:endParaRPr lang="zh-CN" altLang="en-US" sz="2200">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5"/>
                                        </p:tgtEl>
                                        <p:attrNameLst>
                                          <p:attrName>style.visibility</p:attrName>
                                        </p:attrNameLst>
                                      </p:cBhvr>
                                      <p:to>
                                        <p:strVal val="visible"/>
                                      </p:to>
                                    </p:set>
                                    <p:anim calcmode="discrete" valueType="clr">
                                      <p:cBhvr override="childStyle">
                                        <p:cTn id="7" dur="80"/>
                                        <p:tgtEl>
                                          <p:spTgt spid="5"/>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5"/>
                                        </p:tgtEl>
                                        <p:attrNameLst>
                                          <p:attrName>fillcolor</p:attrName>
                                        </p:attrNameLst>
                                      </p:cBhvr>
                                      <p:tavLst>
                                        <p:tav tm="0">
                                          <p:val>
                                            <p:clrVal>
                                              <a:schemeClr val="accent2"/>
                                            </p:clrVal>
                                          </p:val>
                                        </p:tav>
                                        <p:tav tm="50000">
                                          <p:val>
                                            <p:clrVal>
                                              <a:schemeClr val="hlink"/>
                                            </p:clrVal>
                                          </p:val>
                                        </p:tav>
                                      </p:tavLst>
                                    </p:anim>
                                    <p:set>
                                      <p:cBhvr>
                                        <p:cTn id="9" dur="80"/>
                                        <p:tgtEl>
                                          <p:spTgt spid="5"/>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heel(1)">
                                      <p:cBhvr>
                                        <p:cTn id="14"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 name="图片 101"/>
          <p:cNvPicPr/>
          <p:nvPr/>
        </p:nvPicPr>
        <p:blipFill>
          <a:blip r:embed="rId1"/>
          <a:srcRect r="3002"/>
          <a:stretch>
            <a:fillRect/>
          </a:stretch>
        </p:blipFill>
        <p:spPr>
          <a:xfrm>
            <a:off x="2924175" y="528955"/>
            <a:ext cx="6343650" cy="5800090"/>
          </a:xfrm>
          <a:prstGeom prst="rect">
            <a:avLst/>
          </a:prstGeom>
          <a:noFill/>
          <a:ln w="9525">
            <a:noFill/>
          </a:ln>
        </p:spPr>
      </p:pic>
      <p:sp>
        <p:nvSpPr>
          <p:cNvPr id="4" name="文本框 3"/>
          <p:cNvSpPr txBox="1"/>
          <p:nvPr/>
        </p:nvSpPr>
        <p:spPr>
          <a:xfrm>
            <a:off x="7559040" y="4695190"/>
            <a:ext cx="3976370" cy="1198880"/>
          </a:xfrm>
          <a:prstGeom prst="rect">
            <a:avLst/>
          </a:prstGeom>
          <a:noFill/>
        </p:spPr>
        <p:txBody>
          <a:bodyPr wrap="square" rtlCol="0">
            <a:spAutoFit/>
          </a:bodyPr>
          <a:p>
            <a:r>
              <a:rPr lang="en-US" altLang="zh-CN" sz="7200">
                <a:latin typeface="楷体" panose="02010609060101010101" charset="-122"/>
                <a:ea typeface="楷体" panose="02010609060101010101" charset="-122"/>
                <a:cs typeface="楷体" panose="02010609060101010101" charset="-122"/>
              </a:rPr>
              <a:t>2.</a:t>
            </a:r>
            <a:r>
              <a:rPr lang="zh-CN" altLang="en-US" sz="7200">
                <a:latin typeface="楷体" panose="02010609060101010101" charset="-122"/>
                <a:ea typeface="楷体" panose="02010609060101010101" charset="-122"/>
                <a:cs typeface="楷体" panose="02010609060101010101" charset="-122"/>
              </a:rPr>
              <a:t>元宵节</a:t>
            </a:r>
            <a:endParaRPr lang="zh-CN" altLang="en-US" sz="7200">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
                                        </p:tgtEl>
                                        <p:attrNameLst>
                                          <p:attrName>style.visibility</p:attrName>
                                        </p:attrNameLst>
                                      </p:cBhvr>
                                      <p:to>
                                        <p:strVal val="visible"/>
                                      </p:to>
                                    </p:set>
                                    <p:anim calcmode="discrete" valueType="clr">
                                      <p:cBhvr override="childStyle">
                                        <p:cTn id="7" dur="80"/>
                                        <p:tgtEl>
                                          <p:spTgt spid="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
                                        </p:tgtEl>
                                        <p:attrNameLst>
                                          <p:attrName>fillcolor</p:attrName>
                                        </p:attrNameLst>
                                      </p:cBhvr>
                                      <p:tavLst>
                                        <p:tav tm="0">
                                          <p:val>
                                            <p:clrVal>
                                              <a:schemeClr val="accent2"/>
                                            </p:clrVal>
                                          </p:val>
                                        </p:tav>
                                        <p:tav tm="50000">
                                          <p:val>
                                            <p:clrVal>
                                              <a:schemeClr val="hlink"/>
                                            </p:clrVal>
                                          </p:val>
                                        </p:tav>
                                      </p:tavLst>
                                    </p:anim>
                                    <p:set>
                                      <p:cBhvr>
                                        <p:cTn id="9" dur="80"/>
                                        <p:tgtEl>
                                          <p:spTgt spid="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522470" y="2127250"/>
            <a:ext cx="7669530" cy="2799715"/>
          </a:xfrm>
          <a:prstGeom prst="rect">
            <a:avLst/>
          </a:prstGeom>
          <a:noFill/>
        </p:spPr>
        <p:txBody>
          <a:bodyPr wrap="square" rtlCol="0" anchor="t">
            <a:spAutoFit/>
          </a:bodyPr>
          <a:p>
            <a:pPr>
              <a:lnSpc>
                <a:spcPct val="100000"/>
              </a:lnSpc>
            </a:pPr>
            <a:r>
              <a:rPr lang="zh-CN" altLang="en-US" sz="2200">
                <a:latin typeface="楷体" panose="02010609060101010101" charset="-122"/>
                <a:ea typeface="楷体" panose="02010609060101010101" charset="-122"/>
                <a:cs typeface="楷体" panose="02010609060101010101" charset="-122"/>
              </a:rPr>
              <a:t>元宵节起源于“火把节”,汉代民众在乡间田野持火把驱赶虫兽，希望减轻虫害，祈祷获得好收成。直到今天，中国西南一些地区的人们还在正月十五用芦柴或树枝做成火把，成群结队高举火把在田头或晒谷场跳舞。隋、唐、宋以来，更是盛极一时。参加歌舞者足达数万，从昏达旦，至晦而罢。当随着社会和时代的变迁，元宵节的风俗习惯早已有了较大的变化，但至今仍是中国民间传统节日，火把也逐渐变为了彩灯。</a:t>
            </a:r>
            <a:endParaRPr lang="zh-CN" altLang="en-US" sz="2200">
              <a:latin typeface="楷体" panose="02010609060101010101" charset="-122"/>
              <a:ea typeface="楷体" panose="02010609060101010101" charset="-122"/>
              <a:cs typeface="楷体" panose="02010609060101010101" charset="-122"/>
            </a:endParaRPr>
          </a:p>
        </p:txBody>
      </p:sp>
      <p:pic>
        <p:nvPicPr>
          <p:cNvPr id="5" name="图片 4"/>
          <p:cNvPicPr/>
          <p:nvPr/>
        </p:nvPicPr>
        <p:blipFill>
          <a:blip r:embed="rId1"/>
          <a:srcRect r="3002"/>
          <a:stretch>
            <a:fillRect/>
          </a:stretch>
        </p:blipFill>
        <p:spPr>
          <a:xfrm>
            <a:off x="0" y="-142240"/>
            <a:ext cx="4593590" cy="4200525"/>
          </a:xfrm>
          <a:prstGeom prst="rect">
            <a:avLst/>
          </a:prstGeom>
          <a:noFill/>
          <a:ln w="9525">
            <a:noFill/>
          </a:ln>
        </p:spPr>
      </p:pic>
      <p:sp>
        <p:nvSpPr>
          <p:cNvPr id="7" name="文本框 6"/>
          <p:cNvSpPr txBox="1"/>
          <p:nvPr/>
        </p:nvSpPr>
        <p:spPr>
          <a:xfrm>
            <a:off x="8569960" y="475615"/>
            <a:ext cx="1810385" cy="645160"/>
          </a:xfrm>
          <a:prstGeom prst="rect">
            <a:avLst/>
          </a:prstGeom>
          <a:noFill/>
        </p:spPr>
        <p:txBody>
          <a:bodyPr wrap="square" rtlCol="0">
            <a:spAutoFit/>
          </a:bodyPr>
          <a:p>
            <a:r>
              <a:rPr lang="zh-CN" altLang="en-US" sz="3600">
                <a:latin typeface="楷体" panose="02010609060101010101" charset="-122"/>
                <a:ea typeface="楷体" panose="02010609060101010101" charset="-122"/>
              </a:rPr>
              <a:t>元宵节</a:t>
            </a:r>
            <a:endParaRPr lang="zh-CN" altLang="en-US" sz="3600">
              <a:latin typeface="楷体" panose="02010609060101010101" charset="-122"/>
              <a:ea typeface="楷体" panose="02010609060101010101"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7"/>
                                        </p:tgtEl>
                                        <p:attrNameLst>
                                          <p:attrName>style.visibility</p:attrName>
                                        </p:attrNameLst>
                                      </p:cBhvr>
                                      <p:to>
                                        <p:strVal val="visible"/>
                                      </p:to>
                                    </p:set>
                                    <p:anim calcmode="discrete" valueType="clr">
                                      <p:cBhvr override="childStyle">
                                        <p:cTn id="7" dur="80"/>
                                        <p:tgtEl>
                                          <p:spTgt spid="7"/>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7"/>
                                        </p:tgtEl>
                                        <p:attrNameLst>
                                          <p:attrName>fillcolor</p:attrName>
                                        </p:attrNameLst>
                                      </p:cBhvr>
                                      <p:tavLst>
                                        <p:tav tm="0">
                                          <p:val>
                                            <p:clrVal>
                                              <a:schemeClr val="accent2"/>
                                            </p:clrVal>
                                          </p:val>
                                        </p:tav>
                                        <p:tav tm="50000">
                                          <p:val>
                                            <p:clrVal>
                                              <a:schemeClr val="hlink"/>
                                            </p:clrVal>
                                          </p:val>
                                        </p:tav>
                                      </p:tavLst>
                                    </p:anim>
                                    <p:set>
                                      <p:cBhvr>
                                        <p:cTn id="9" dur="80"/>
                                        <p:tgtEl>
                                          <p:spTgt spid="7"/>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heel(1)">
                                      <p:cBhvr>
                                        <p:cTn id="14"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4" grpId="0"/>
      <p:bldP spid="4"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102" name="图片 101"/>
          <p:cNvPicPr/>
          <p:nvPr/>
        </p:nvPicPr>
        <p:blipFill>
          <a:blip r:embed="rId1"/>
          <a:srcRect r="3002"/>
          <a:stretch>
            <a:fillRect/>
          </a:stretch>
        </p:blipFill>
        <p:spPr>
          <a:xfrm>
            <a:off x="2924175" y="528955"/>
            <a:ext cx="6343650" cy="5800090"/>
          </a:xfrm>
          <a:prstGeom prst="rect">
            <a:avLst/>
          </a:prstGeom>
          <a:noFill/>
          <a:ln w="9525">
            <a:noFill/>
          </a:ln>
        </p:spPr>
      </p:pic>
      <p:sp>
        <p:nvSpPr>
          <p:cNvPr id="2" name="文本框 1"/>
          <p:cNvSpPr txBox="1"/>
          <p:nvPr/>
        </p:nvSpPr>
        <p:spPr>
          <a:xfrm>
            <a:off x="8183880" y="4695190"/>
            <a:ext cx="3908425" cy="1198880"/>
          </a:xfrm>
          <a:prstGeom prst="rect">
            <a:avLst/>
          </a:prstGeom>
          <a:noFill/>
        </p:spPr>
        <p:txBody>
          <a:bodyPr wrap="square" rtlCol="0">
            <a:spAutoFit/>
          </a:bodyPr>
          <a:p>
            <a:r>
              <a:rPr lang="en-US" altLang="zh-CN" sz="7200">
                <a:latin typeface="楷体" panose="02010609060101010101" charset="-122"/>
                <a:ea typeface="楷体" panose="02010609060101010101" charset="-122"/>
                <a:cs typeface="楷体" panose="02010609060101010101" charset="-122"/>
              </a:rPr>
              <a:t>3.</a:t>
            </a:r>
            <a:r>
              <a:rPr lang="zh-CN" altLang="en-US" sz="7200">
                <a:latin typeface="楷体" panose="02010609060101010101" charset="-122"/>
                <a:ea typeface="楷体" panose="02010609060101010101" charset="-122"/>
                <a:cs typeface="楷体" panose="02010609060101010101" charset="-122"/>
              </a:rPr>
              <a:t>寒食节</a:t>
            </a:r>
            <a:endParaRPr lang="zh-CN" altLang="en-US" sz="7200">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p:nvPr/>
        </p:nvPicPr>
        <p:blipFill>
          <a:blip r:embed="rId1"/>
          <a:srcRect r="3002"/>
          <a:stretch>
            <a:fillRect/>
          </a:stretch>
        </p:blipFill>
        <p:spPr>
          <a:xfrm>
            <a:off x="7598410" y="2657475"/>
            <a:ext cx="4593590" cy="4200525"/>
          </a:xfrm>
          <a:prstGeom prst="rect">
            <a:avLst/>
          </a:prstGeom>
          <a:noFill/>
          <a:ln w="9525">
            <a:noFill/>
          </a:ln>
        </p:spPr>
      </p:pic>
      <p:sp>
        <p:nvSpPr>
          <p:cNvPr id="2" name="文本框 1"/>
          <p:cNvSpPr txBox="1"/>
          <p:nvPr/>
        </p:nvSpPr>
        <p:spPr>
          <a:xfrm>
            <a:off x="635" y="0"/>
            <a:ext cx="9388475" cy="6554470"/>
          </a:xfrm>
          <a:prstGeom prst="rect">
            <a:avLst/>
          </a:prstGeom>
          <a:noFill/>
        </p:spPr>
        <p:txBody>
          <a:bodyPr wrap="square" rtlCol="0" anchor="t">
            <a:spAutoFit/>
          </a:bodyPr>
          <a:p>
            <a:pPr>
              <a:lnSpc>
                <a:spcPct val="100000"/>
              </a:lnSpc>
            </a:pPr>
            <a:r>
              <a:rPr lang="zh-CN" altLang="en-US" sz="2000">
                <a:latin typeface="楷体" panose="02010609060101010101" charset="-122"/>
                <a:ea typeface="楷体" panose="02010609060101010101" charset="-122"/>
                <a:cs typeface="楷体" panose="02010609060101010101" charset="-122"/>
              </a:rPr>
              <a:t>相传春秋战国时代，晋献公的妃子骊姬为了让自己的儿子奚齐继位，就设毒计谋害太子申生，申生被逼自杀。申生的弟弟重耳，为了躲避祸害，流亡出走。在流亡期间，重耳受尽了屈辱。原来跟着他一道出奔的臣子，大多陆陆续续地各奔出路去了。只剩下少数几个忠心耿耿的人，一直追随着他。其中一人叫介子推。有一次，重耳饿晕了过去。介子推为了救重耳，从自己腿上割下了一块肉，用火烤熟了就送给重耳吃。十九年后，重耳回国做了君主，就是著名春秋五霸之一晋文公。</a:t>
            </a:r>
            <a:endParaRPr lang="zh-CN" altLang="en-US" sz="2000">
              <a:latin typeface="楷体" panose="02010609060101010101" charset="-122"/>
              <a:ea typeface="楷体" panose="02010609060101010101" charset="-122"/>
              <a:cs typeface="楷体" panose="02010609060101010101" charset="-122"/>
            </a:endParaRPr>
          </a:p>
          <a:p>
            <a:pPr>
              <a:lnSpc>
                <a:spcPct val="100000"/>
              </a:lnSpc>
            </a:pPr>
            <a:endParaRPr lang="zh-CN" altLang="en-US" sz="2000">
              <a:latin typeface="楷体" panose="02010609060101010101" charset="-122"/>
              <a:ea typeface="楷体" panose="02010609060101010101" charset="-122"/>
              <a:cs typeface="楷体" panose="02010609060101010101" charset="-122"/>
            </a:endParaRPr>
          </a:p>
          <a:p>
            <a:pPr>
              <a:lnSpc>
                <a:spcPct val="100000"/>
              </a:lnSpc>
            </a:pPr>
            <a:r>
              <a:rPr lang="zh-CN" altLang="en-US" sz="2000">
                <a:latin typeface="楷体" panose="02010609060101010101" charset="-122"/>
                <a:ea typeface="楷体" panose="02010609060101010101" charset="-122"/>
                <a:cs typeface="楷体" panose="02010609060101010101" charset="-122"/>
              </a:rPr>
              <a:t>晋文公执政后，对那些和他同甘共苦的臣子大加封赏，唯独忘了介子推。有人在晋文公面前为介子推叫屈。晋文公猛然忆起旧事，心中有愧，马上差人去请介子推上朝受赏封官。可是，差人去了几趟，介子推不来。晋文公只好亲去请。可是，当晋文公来到介子推家时，只见大门紧闭。介子推不愿见他，已经背着老母躲进了绵山(今山西介休县东南)。晋文公便让他的御林军上绵山搜索，没有找到。于是，有人出了个主意说，不如放火烧山，三面点火，留下一方，大火起时介子推会自己走</a:t>
            </a:r>
            <a:endParaRPr lang="zh-CN" altLang="en-US" sz="2000">
              <a:latin typeface="楷体" panose="02010609060101010101" charset="-122"/>
              <a:ea typeface="楷体" panose="02010609060101010101" charset="-122"/>
              <a:cs typeface="楷体" panose="02010609060101010101" charset="-122"/>
            </a:endParaRPr>
          </a:p>
          <a:p>
            <a:pPr>
              <a:lnSpc>
                <a:spcPct val="100000"/>
              </a:lnSpc>
            </a:pPr>
            <a:r>
              <a:rPr lang="zh-CN" altLang="en-US" sz="2000">
                <a:latin typeface="楷体" panose="02010609060101010101" charset="-122"/>
                <a:ea typeface="楷体" panose="02010609060101010101" charset="-122"/>
                <a:cs typeface="楷体" panose="02010609060101010101" charset="-122"/>
              </a:rPr>
              <a:t>出来的。晋文公乃下令举火烧山，孰料大火烧了三天三夜，大火熄灭后，终究不</a:t>
            </a:r>
            <a:endParaRPr lang="zh-CN" altLang="en-US" sz="2000">
              <a:latin typeface="楷体" panose="02010609060101010101" charset="-122"/>
              <a:ea typeface="楷体" panose="02010609060101010101" charset="-122"/>
              <a:cs typeface="楷体" panose="02010609060101010101" charset="-122"/>
            </a:endParaRPr>
          </a:p>
          <a:p>
            <a:pPr>
              <a:lnSpc>
                <a:spcPct val="100000"/>
              </a:lnSpc>
            </a:pPr>
            <a:r>
              <a:rPr lang="zh-CN" altLang="en-US" sz="2000">
                <a:latin typeface="楷体" panose="02010609060101010101" charset="-122"/>
                <a:ea typeface="楷体" panose="02010609060101010101" charset="-122"/>
                <a:cs typeface="楷体" panose="02010609060101010101" charset="-122"/>
              </a:rPr>
              <a:t>见介子推出来。上山一看，介子推母子俩抱着一棵烧焦的大柳树已经死了。晋</a:t>
            </a:r>
            <a:endParaRPr lang="zh-CN" altLang="en-US" sz="2000">
              <a:latin typeface="楷体" panose="02010609060101010101" charset="-122"/>
              <a:ea typeface="楷体" panose="02010609060101010101" charset="-122"/>
              <a:cs typeface="楷体" panose="02010609060101010101" charset="-122"/>
            </a:endParaRPr>
          </a:p>
          <a:p>
            <a:pPr>
              <a:lnSpc>
                <a:spcPct val="100000"/>
              </a:lnSpc>
            </a:pPr>
            <a:r>
              <a:rPr lang="zh-CN" altLang="en-US" sz="2000">
                <a:latin typeface="楷体" panose="02010609060101010101" charset="-122"/>
                <a:ea typeface="楷体" panose="02010609060101010101" charset="-122"/>
                <a:cs typeface="楷体" panose="02010609060101010101" charset="-122"/>
              </a:rPr>
              <a:t>文公望着介子推的尸体哭拜一阵，然后安葬遗体。</a:t>
            </a:r>
            <a:endParaRPr lang="zh-CN" altLang="en-US" sz="2000">
              <a:latin typeface="楷体" panose="02010609060101010101" charset="-122"/>
              <a:ea typeface="楷体" panose="02010609060101010101" charset="-122"/>
              <a:cs typeface="楷体" panose="02010609060101010101" charset="-122"/>
            </a:endParaRPr>
          </a:p>
          <a:p>
            <a:pPr>
              <a:lnSpc>
                <a:spcPct val="100000"/>
              </a:lnSpc>
            </a:pPr>
            <a:endParaRPr lang="zh-CN" altLang="en-US" sz="2000">
              <a:latin typeface="楷体" panose="02010609060101010101" charset="-122"/>
              <a:ea typeface="楷体" panose="02010609060101010101" charset="-122"/>
              <a:cs typeface="楷体" panose="02010609060101010101" charset="-122"/>
            </a:endParaRPr>
          </a:p>
          <a:p>
            <a:pPr>
              <a:lnSpc>
                <a:spcPct val="100000"/>
              </a:lnSpc>
            </a:pPr>
            <a:r>
              <a:rPr lang="zh-CN" altLang="en-US" sz="2000">
                <a:latin typeface="楷体" panose="02010609060101010101" charset="-122"/>
                <a:ea typeface="楷体" panose="02010609060101010101" charset="-122"/>
                <a:cs typeface="楷体" panose="02010609060101010101" charset="-122"/>
              </a:rPr>
              <a:t>为了纪念介子推，晋文公下令把绵山改为“介山”，在山上建立祠堂，并把放火</a:t>
            </a:r>
            <a:endParaRPr lang="zh-CN" altLang="en-US" sz="2000">
              <a:latin typeface="楷体" panose="02010609060101010101" charset="-122"/>
              <a:ea typeface="楷体" panose="02010609060101010101" charset="-122"/>
              <a:cs typeface="楷体" panose="02010609060101010101" charset="-122"/>
            </a:endParaRPr>
          </a:p>
          <a:p>
            <a:pPr>
              <a:lnSpc>
                <a:spcPct val="100000"/>
              </a:lnSpc>
            </a:pPr>
            <a:r>
              <a:rPr lang="zh-CN" altLang="en-US" sz="2000">
                <a:latin typeface="楷体" panose="02010609060101010101" charset="-122"/>
                <a:ea typeface="楷体" panose="02010609060101010101" charset="-122"/>
                <a:cs typeface="楷体" panose="02010609060101010101" charset="-122"/>
              </a:rPr>
              <a:t>烧山的这一天定为寒食节，晓谕全国，每年这天禁忌烟火，只吃寒食。 走时，他伐了一段烧焦的柳木，到宫中做了双木屐，每天望着它叹道：“悲哉足下。”“足下”是古人下级对上级或同辈之间相互尊敬的称呼，据说就是来源于此。</a:t>
            </a:r>
            <a:endParaRPr lang="zh-CN" altLang="en-US" sz="2000">
              <a:latin typeface="楷体" panose="02010609060101010101" charset="-122"/>
              <a:ea typeface="楷体" panose="02010609060101010101" charset="-122"/>
              <a:cs typeface="楷体" panose="02010609060101010101" charset="-122"/>
            </a:endParaRPr>
          </a:p>
        </p:txBody>
      </p:sp>
      <p:sp>
        <p:nvSpPr>
          <p:cNvPr id="7" name="文本框 6"/>
          <p:cNvSpPr txBox="1"/>
          <p:nvPr/>
        </p:nvSpPr>
        <p:spPr>
          <a:xfrm>
            <a:off x="9958070" y="958850"/>
            <a:ext cx="1810385" cy="645160"/>
          </a:xfrm>
          <a:prstGeom prst="rect">
            <a:avLst/>
          </a:prstGeom>
          <a:noFill/>
        </p:spPr>
        <p:txBody>
          <a:bodyPr wrap="square" rtlCol="0">
            <a:spAutoFit/>
          </a:bodyPr>
          <a:p>
            <a:r>
              <a:rPr lang="zh-CN" altLang="en-US" sz="3600">
                <a:latin typeface="楷体" panose="02010609060101010101" charset="-122"/>
                <a:ea typeface="楷体" panose="02010609060101010101" charset="-122"/>
              </a:rPr>
              <a:t>寒食</a:t>
            </a:r>
            <a:r>
              <a:rPr lang="zh-CN" altLang="en-US" sz="3600">
                <a:latin typeface="楷体" panose="02010609060101010101" charset="-122"/>
                <a:ea typeface="楷体" panose="02010609060101010101" charset="-122"/>
              </a:rPr>
              <a:t>节</a:t>
            </a:r>
            <a:endParaRPr lang="zh-CN" altLang="en-US" sz="3600">
              <a:latin typeface="楷体" panose="02010609060101010101" charset="-122"/>
              <a:ea typeface="楷体" panose="02010609060101010101"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7"/>
                                        </p:tgtEl>
                                        <p:attrNameLst>
                                          <p:attrName>style.visibility</p:attrName>
                                        </p:attrNameLst>
                                      </p:cBhvr>
                                      <p:to>
                                        <p:strVal val="visible"/>
                                      </p:to>
                                    </p:set>
                                    <p:anim calcmode="discrete" valueType="clr">
                                      <p:cBhvr override="childStyle">
                                        <p:cTn id="7" dur="80"/>
                                        <p:tgtEl>
                                          <p:spTgt spid="7"/>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7"/>
                                        </p:tgtEl>
                                        <p:attrNameLst>
                                          <p:attrName>fillcolor</p:attrName>
                                        </p:attrNameLst>
                                      </p:cBhvr>
                                      <p:tavLst>
                                        <p:tav tm="0">
                                          <p:val>
                                            <p:clrVal>
                                              <a:schemeClr val="accent2"/>
                                            </p:clrVal>
                                          </p:val>
                                        </p:tav>
                                        <p:tav tm="50000">
                                          <p:val>
                                            <p:clrVal>
                                              <a:schemeClr val="hlink"/>
                                            </p:clrVal>
                                          </p:val>
                                        </p:tav>
                                      </p:tavLst>
                                    </p:anim>
                                    <p:set>
                                      <p:cBhvr>
                                        <p:cTn id="9" dur="80"/>
                                        <p:tgtEl>
                                          <p:spTgt spid="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102" name="图片 101"/>
          <p:cNvPicPr/>
          <p:nvPr/>
        </p:nvPicPr>
        <p:blipFill>
          <a:blip r:embed="rId1"/>
          <a:srcRect r="3002"/>
          <a:stretch>
            <a:fillRect/>
          </a:stretch>
        </p:blipFill>
        <p:spPr>
          <a:xfrm>
            <a:off x="2924175" y="528955"/>
            <a:ext cx="6343650" cy="5800090"/>
          </a:xfrm>
          <a:prstGeom prst="rect">
            <a:avLst/>
          </a:prstGeom>
          <a:noFill/>
          <a:ln w="9525">
            <a:noFill/>
          </a:ln>
        </p:spPr>
      </p:pic>
      <p:sp>
        <p:nvSpPr>
          <p:cNvPr id="2" name="文本框 1"/>
          <p:cNvSpPr txBox="1"/>
          <p:nvPr/>
        </p:nvSpPr>
        <p:spPr>
          <a:xfrm>
            <a:off x="8183880" y="4695190"/>
            <a:ext cx="3908425" cy="1198880"/>
          </a:xfrm>
          <a:prstGeom prst="rect">
            <a:avLst/>
          </a:prstGeom>
          <a:noFill/>
        </p:spPr>
        <p:txBody>
          <a:bodyPr wrap="square" rtlCol="0">
            <a:spAutoFit/>
          </a:bodyPr>
          <a:p>
            <a:r>
              <a:rPr lang="en-US" altLang="zh-CN" sz="7200">
                <a:latin typeface="楷体" panose="02010609060101010101" charset="-122"/>
                <a:ea typeface="楷体" panose="02010609060101010101" charset="-122"/>
                <a:cs typeface="楷体" panose="02010609060101010101" charset="-122"/>
              </a:rPr>
              <a:t>4.</a:t>
            </a:r>
            <a:r>
              <a:rPr lang="zh-CN" altLang="en-US" sz="7200">
                <a:latin typeface="楷体" panose="02010609060101010101" charset="-122"/>
                <a:ea typeface="楷体" panose="02010609060101010101" charset="-122"/>
                <a:cs typeface="楷体" panose="02010609060101010101" charset="-122"/>
              </a:rPr>
              <a:t>清明节</a:t>
            </a:r>
            <a:endParaRPr lang="zh-CN" altLang="en-US" sz="7200">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p:nvPr/>
        </p:nvPicPr>
        <p:blipFill>
          <a:blip r:embed="rId1"/>
          <a:srcRect r="3002"/>
          <a:stretch>
            <a:fillRect/>
          </a:stretch>
        </p:blipFill>
        <p:spPr>
          <a:xfrm>
            <a:off x="0" y="-142240"/>
            <a:ext cx="4593590" cy="4200525"/>
          </a:xfrm>
          <a:prstGeom prst="rect">
            <a:avLst/>
          </a:prstGeom>
          <a:noFill/>
          <a:ln w="9525">
            <a:noFill/>
          </a:ln>
        </p:spPr>
      </p:pic>
      <p:sp>
        <p:nvSpPr>
          <p:cNvPr id="7" name="文本框 6"/>
          <p:cNvSpPr txBox="1"/>
          <p:nvPr/>
        </p:nvSpPr>
        <p:spPr>
          <a:xfrm>
            <a:off x="1391920" y="3106420"/>
            <a:ext cx="1810385" cy="645160"/>
          </a:xfrm>
          <a:prstGeom prst="rect">
            <a:avLst/>
          </a:prstGeom>
          <a:noFill/>
        </p:spPr>
        <p:txBody>
          <a:bodyPr wrap="square" rtlCol="0">
            <a:spAutoFit/>
          </a:bodyPr>
          <a:p>
            <a:r>
              <a:rPr lang="zh-CN" altLang="en-US" sz="3600">
                <a:latin typeface="楷体" panose="02010609060101010101" charset="-122"/>
                <a:ea typeface="楷体" panose="02010609060101010101" charset="-122"/>
              </a:rPr>
              <a:t>清明节</a:t>
            </a:r>
            <a:endParaRPr lang="zh-CN" altLang="en-US" sz="3600">
              <a:latin typeface="楷体" panose="02010609060101010101" charset="-122"/>
              <a:ea typeface="楷体" panose="02010609060101010101" charset="-122"/>
            </a:endParaRPr>
          </a:p>
        </p:txBody>
      </p:sp>
      <p:sp>
        <p:nvSpPr>
          <p:cNvPr id="4" name="文本框 3"/>
          <p:cNvSpPr txBox="1"/>
          <p:nvPr/>
        </p:nvSpPr>
        <p:spPr>
          <a:xfrm>
            <a:off x="3964305" y="3425190"/>
            <a:ext cx="7669530" cy="2122805"/>
          </a:xfrm>
          <a:prstGeom prst="rect">
            <a:avLst/>
          </a:prstGeom>
          <a:noFill/>
        </p:spPr>
        <p:txBody>
          <a:bodyPr wrap="square" rtlCol="0" anchor="t">
            <a:spAutoFit/>
          </a:bodyPr>
          <a:p>
            <a:pPr>
              <a:lnSpc>
                <a:spcPct val="100000"/>
              </a:lnSpc>
            </a:pPr>
            <a:r>
              <a:rPr lang="zh-CN" altLang="en-US" sz="2200">
                <a:latin typeface="楷体" panose="02010609060101010101" charset="-122"/>
                <a:ea typeface="楷体" panose="02010609060101010101" charset="-122"/>
                <a:cs typeface="楷体" panose="02010609060101010101" charset="-122"/>
              </a:rPr>
              <a:t>清明节的起源，据传始于古代帝王将相“墓祭”之礼，后来民间亦相仿效，于此日祭祖扫墓，历代沿袭而成为中华民族一种固定的风俗。本来，寒食节与清明节是两个不同的节日，到了唐朝，将祭拜扫墓的日子定为寒食节。寒食节的正确日子是在冬至后一百零五天，约在清明前后，因两者日子相近，所以便将清明与寒食合并为一日。</a:t>
            </a:r>
            <a:endParaRPr lang="zh-CN" altLang="en-US" sz="2200">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7"/>
                                        </p:tgtEl>
                                        <p:attrNameLst>
                                          <p:attrName>style.visibility</p:attrName>
                                        </p:attrNameLst>
                                      </p:cBhvr>
                                      <p:to>
                                        <p:strVal val="visible"/>
                                      </p:to>
                                    </p:set>
                                    <p:anim calcmode="discrete" valueType="clr">
                                      <p:cBhvr override="childStyle">
                                        <p:cTn id="7" dur="80"/>
                                        <p:tgtEl>
                                          <p:spTgt spid="7"/>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7"/>
                                        </p:tgtEl>
                                        <p:attrNameLst>
                                          <p:attrName>fillcolor</p:attrName>
                                        </p:attrNameLst>
                                      </p:cBhvr>
                                      <p:tavLst>
                                        <p:tav tm="0">
                                          <p:val>
                                            <p:clrVal>
                                              <a:schemeClr val="accent2"/>
                                            </p:clrVal>
                                          </p:val>
                                        </p:tav>
                                        <p:tav tm="50000">
                                          <p:val>
                                            <p:clrVal>
                                              <a:schemeClr val="hlink"/>
                                            </p:clrVal>
                                          </p:val>
                                        </p:tav>
                                      </p:tavLst>
                                    </p:anim>
                                    <p:set>
                                      <p:cBhvr>
                                        <p:cTn id="9" dur="80"/>
                                        <p:tgtEl>
                                          <p:spTgt spid="7"/>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heel(1)">
                                      <p:cBhvr>
                                        <p:cTn id="14"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4" grpId="0"/>
      <p:bldP spid="4" grpId="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102" name="图片 101"/>
          <p:cNvPicPr/>
          <p:nvPr/>
        </p:nvPicPr>
        <p:blipFill>
          <a:blip r:embed="rId1"/>
          <a:srcRect r="3002"/>
          <a:stretch>
            <a:fillRect/>
          </a:stretch>
        </p:blipFill>
        <p:spPr>
          <a:xfrm>
            <a:off x="2924175" y="528955"/>
            <a:ext cx="6343650" cy="5800090"/>
          </a:xfrm>
          <a:prstGeom prst="rect">
            <a:avLst/>
          </a:prstGeom>
          <a:noFill/>
          <a:ln w="9525">
            <a:noFill/>
          </a:ln>
        </p:spPr>
      </p:pic>
      <p:sp>
        <p:nvSpPr>
          <p:cNvPr id="2" name="文本框 1"/>
          <p:cNvSpPr txBox="1"/>
          <p:nvPr/>
        </p:nvSpPr>
        <p:spPr>
          <a:xfrm>
            <a:off x="8183880" y="4695190"/>
            <a:ext cx="3908425" cy="1198880"/>
          </a:xfrm>
          <a:prstGeom prst="rect">
            <a:avLst/>
          </a:prstGeom>
          <a:noFill/>
        </p:spPr>
        <p:txBody>
          <a:bodyPr wrap="square" rtlCol="0">
            <a:spAutoFit/>
          </a:bodyPr>
          <a:p>
            <a:r>
              <a:rPr lang="en-US" altLang="zh-CN" sz="7200">
                <a:latin typeface="楷体" panose="02010609060101010101" charset="-122"/>
                <a:ea typeface="楷体" panose="02010609060101010101" charset="-122"/>
                <a:cs typeface="楷体" panose="02010609060101010101" charset="-122"/>
              </a:rPr>
              <a:t>5.</a:t>
            </a:r>
            <a:r>
              <a:rPr lang="zh-CN" altLang="en-US" sz="7200">
                <a:latin typeface="楷体" panose="02010609060101010101" charset="-122"/>
                <a:ea typeface="楷体" panose="02010609060101010101" charset="-122"/>
                <a:cs typeface="楷体" panose="02010609060101010101" charset="-122"/>
              </a:rPr>
              <a:t>端午节</a:t>
            </a:r>
            <a:endParaRPr lang="zh-CN" altLang="en-US" sz="7200">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p:nvPr/>
        </p:nvPicPr>
        <p:blipFill>
          <a:blip r:embed="rId1"/>
          <a:srcRect r="3002"/>
          <a:stretch>
            <a:fillRect/>
          </a:stretch>
        </p:blipFill>
        <p:spPr>
          <a:xfrm>
            <a:off x="0" y="-142240"/>
            <a:ext cx="4593590" cy="4200525"/>
          </a:xfrm>
          <a:prstGeom prst="rect">
            <a:avLst/>
          </a:prstGeom>
          <a:noFill/>
          <a:ln w="9525">
            <a:noFill/>
          </a:ln>
        </p:spPr>
      </p:pic>
      <p:sp>
        <p:nvSpPr>
          <p:cNvPr id="4" name="文本框 3"/>
          <p:cNvSpPr txBox="1"/>
          <p:nvPr/>
        </p:nvSpPr>
        <p:spPr>
          <a:xfrm>
            <a:off x="4205605" y="2806065"/>
            <a:ext cx="7669530" cy="2122805"/>
          </a:xfrm>
          <a:prstGeom prst="rect">
            <a:avLst/>
          </a:prstGeom>
          <a:noFill/>
        </p:spPr>
        <p:txBody>
          <a:bodyPr wrap="square" rtlCol="0" anchor="t">
            <a:spAutoFit/>
          </a:bodyPr>
          <a:p>
            <a:pPr>
              <a:lnSpc>
                <a:spcPct val="100000"/>
              </a:lnSpc>
            </a:pPr>
            <a:r>
              <a:rPr lang="zh-CN" altLang="en-US" sz="2200">
                <a:latin typeface="楷体" panose="02010609060101010101" charset="-122"/>
                <a:ea typeface="楷体" panose="02010609060101010101" charset="-122"/>
                <a:cs typeface="楷体" panose="02010609060101010101" charset="-122"/>
              </a:rPr>
              <a:t>端午节起源于中国，最初为古代百越地区（长江中下游及以南一带）崇拜龙图腾的部族举行图腾祭祀的节日，百越之地春秋之前有在农历五月初五以龙舟竞渡形式举行部落图腾祭祀的习俗。后因战国时期的楚国（今湖北）诗人屈原在该日抱石跳汨罗江自尽，统治者为树立忠君爱国标签将端午作为纪念屈原的节日；部分地区也有纪念伍子胥、曹娥等说法。</a:t>
            </a:r>
            <a:endParaRPr lang="zh-CN" altLang="en-US" sz="2200">
              <a:latin typeface="楷体" panose="02010609060101010101" charset="-122"/>
              <a:ea typeface="楷体" panose="02010609060101010101" charset="-122"/>
              <a:cs typeface="楷体" panose="02010609060101010101" charset="-122"/>
            </a:endParaRPr>
          </a:p>
        </p:txBody>
      </p:sp>
      <p:sp>
        <p:nvSpPr>
          <p:cNvPr id="7" name="文本框 6"/>
          <p:cNvSpPr txBox="1"/>
          <p:nvPr/>
        </p:nvSpPr>
        <p:spPr>
          <a:xfrm>
            <a:off x="1628775" y="0"/>
            <a:ext cx="1810385" cy="645160"/>
          </a:xfrm>
          <a:prstGeom prst="rect">
            <a:avLst/>
          </a:prstGeom>
          <a:noFill/>
        </p:spPr>
        <p:txBody>
          <a:bodyPr wrap="square" rtlCol="0">
            <a:spAutoFit/>
          </a:bodyPr>
          <a:p>
            <a:r>
              <a:rPr lang="zh-CN" altLang="en-US" sz="3600">
                <a:latin typeface="楷体" panose="02010609060101010101" charset="-122"/>
                <a:ea typeface="楷体" panose="02010609060101010101" charset="-122"/>
              </a:rPr>
              <a:t>端午节</a:t>
            </a:r>
            <a:endParaRPr lang="zh-CN" altLang="en-US" sz="3600">
              <a:latin typeface="楷体" panose="02010609060101010101" charset="-122"/>
              <a:ea typeface="楷体" panose="02010609060101010101"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7"/>
                                        </p:tgtEl>
                                        <p:attrNameLst>
                                          <p:attrName>style.visibility</p:attrName>
                                        </p:attrNameLst>
                                      </p:cBhvr>
                                      <p:to>
                                        <p:strVal val="visible"/>
                                      </p:to>
                                    </p:set>
                                    <p:anim calcmode="discrete" valueType="clr">
                                      <p:cBhvr override="childStyle">
                                        <p:cTn id="7" dur="80"/>
                                        <p:tgtEl>
                                          <p:spTgt spid="7"/>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7"/>
                                        </p:tgtEl>
                                        <p:attrNameLst>
                                          <p:attrName>fillcolor</p:attrName>
                                        </p:attrNameLst>
                                      </p:cBhvr>
                                      <p:tavLst>
                                        <p:tav tm="0">
                                          <p:val>
                                            <p:clrVal>
                                              <a:schemeClr val="accent2"/>
                                            </p:clrVal>
                                          </p:val>
                                        </p:tav>
                                        <p:tav tm="50000">
                                          <p:val>
                                            <p:clrVal>
                                              <a:schemeClr val="hlink"/>
                                            </p:clrVal>
                                          </p:val>
                                        </p:tav>
                                      </p:tavLst>
                                    </p:anim>
                                    <p:set>
                                      <p:cBhvr>
                                        <p:cTn id="9" dur="80"/>
                                        <p:tgtEl>
                                          <p:spTgt spid="7"/>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heel(1)">
                                      <p:cBhvr>
                                        <p:cTn id="14"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4" grpId="0"/>
      <p:bldP spid="4" grpId="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102" name="图片 101"/>
          <p:cNvPicPr/>
          <p:nvPr/>
        </p:nvPicPr>
        <p:blipFill>
          <a:blip r:embed="rId1"/>
          <a:srcRect r="3002"/>
          <a:stretch>
            <a:fillRect/>
          </a:stretch>
        </p:blipFill>
        <p:spPr>
          <a:xfrm>
            <a:off x="2924175" y="528955"/>
            <a:ext cx="6343650" cy="5800090"/>
          </a:xfrm>
          <a:prstGeom prst="rect">
            <a:avLst/>
          </a:prstGeom>
          <a:noFill/>
          <a:ln w="9525">
            <a:noFill/>
          </a:ln>
        </p:spPr>
      </p:pic>
      <p:sp>
        <p:nvSpPr>
          <p:cNvPr id="2" name="文本框 1"/>
          <p:cNvSpPr txBox="1"/>
          <p:nvPr/>
        </p:nvSpPr>
        <p:spPr>
          <a:xfrm>
            <a:off x="8183880" y="4695190"/>
            <a:ext cx="3108325" cy="1198880"/>
          </a:xfrm>
          <a:prstGeom prst="rect">
            <a:avLst/>
          </a:prstGeom>
          <a:noFill/>
        </p:spPr>
        <p:txBody>
          <a:bodyPr wrap="square" rtlCol="0">
            <a:spAutoFit/>
          </a:bodyPr>
          <a:p>
            <a:r>
              <a:rPr lang="en-US" altLang="zh-CN" sz="7200">
                <a:latin typeface="楷体" panose="02010609060101010101" charset="-122"/>
                <a:ea typeface="楷体" panose="02010609060101010101" charset="-122"/>
                <a:cs typeface="楷体" panose="02010609060101010101" charset="-122"/>
              </a:rPr>
              <a:t>6.</a:t>
            </a:r>
            <a:r>
              <a:rPr lang="zh-CN" altLang="en-US" sz="7200">
                <a:latin typeface="楷体" panose="02010609060101010101" charset="-122"/>
                <a:ea typeface="楷体" panose="02010609060101010101" charset="-122"/>
                <a:cs typeface="楷体" panose="02010609060101010101" charset="-122"/>
              </a:rPr>
              <a:t>七夕</a:t>
            </a:r>
            <a:endParaRPr lang="zh-CN" altLang="en-US" sz="7200">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p:nvPr/>
        </p:nvPicPr>
        <p:blipFill>
          <a:blip r:embed="rId1"/>
          <a:srcRect r="3002"/>
          <a:stretch>
            <a:fillRect/>
          </a:stretch>
        </p:blipFill>
        <p:spPr>
          <a:xfrm>
            <a:off x="0" y="-142240"/>
            <a:ext cx="4593590" cy="4200525"/>
          </a:xfrm>
          <a:prstGeom prst="rect">
            <a:avLst/>
          </a:prstGeom>
          <a:noFill/>
          <a:ln w="9525">
            <a:noFill/>
          </a:ln>
        </p:spPr>
      </p:pic>
      <p:sp>
        <p:nvSpPr>
          <p:cNvPr id="4" name="文本框 3"/>
          <p:cNvSpPr txBox="1"/>
          <p:nvPr/>
        </p:nvSpPr>
        <p:spPr>
          <a:xfrm>
            <a:off x="4190365" y="2791460"/>
            <a:ext cx="7669530" cy="2799715"/>
          </a:xfrm>
          <a:prstGeom prst="rect">
            <a:avLst/>
          </a:prstGeom>
          <a:noFill/>
        </p:spPr>
        <p:txBody>
          <a:bodyPr wrap="square" rtlCol="0" anchor="t">
            <a:spAutoFit/>
          </a:bodyPr>
          <a:p>
            <a:pPr>
              <a:lnSpc>
                <a:spcPct val="100000"/>
              </a:lnSpc>
            </a:pPr>
            <a:r>
              <a:rPr lang="zh-CN" altLang="en-US" sz="2200">
                <a:latin typeface="楷体" panose="02010609060101010101" charset="-122"/>
                <a:ea typeface="楷体" panose="02010609060101010101" charset="-122"/>
                <a:cs typeface="楷体" panose="02010609060101010101" charset="-122"/>
              </a:rPr>
              <a:t>七夕，原名为乞巧节。七夕乞巧，这个节日起源于汉代，东晋葛洪的《西京杂记》有“汉彩女常以七月七日穿七孔针于汉代画像石上的牛宿、女宿图开襟楼，人俱习之”的记载，这便是我们于古代文献中所见到的最早的关于乞巧的记载。后来的唐宋诗词中，妇女乞巧也被屡屡提及，唐朝王建有诗说“阑珊星斗缀珠光，七夕宫娥乞巧忙”。据《开元天宝遗事》载：唐太宗与妃子每逢七夕在清宫夜宴，宫女们各自乞巧，这一习俗在民间也经久不衰，代代延续。</a:t>
            </a:r>
            <a:endParaRPr lang="zh-CN" altLang="en-US" sz="2200">
              <a:latin typeface="楷体" panose="02010609060101010101" charset="-122"/>
              <a:ea typeface="楷体" panose="02010609060101010101" charset="-122"/>
              <a:cs typeface="楷体" panose="02010609060101010101" charset="-122"/>
            </a:endParaRPr>
          </a:p>
        </p:txBody>
      </p:sp>
      <p:sp>
        <p:nvSpPr>
          <p:cNvPr id="7" name="文本框 6"/>
          <p:cNvSpPr txBox="1"/>
          <p:nvPr/>
        </p:nvSpPr>
        <p:spPr>
          <a:xfrm>
            <a:off x="6049645" y="5854065"/>
            <a:ext cx="1810385" cy="645160"/>
          </a:xfrm>
          <a:prstGeom prst="rect">
            <a:avLst/>
          </a:prstGeom>
          <a:noFill/>
        </p:spPr>
        <p:txBody>
          <a:bodyPr wrap="square" rtlCol="0">
            <a:spAutoFit/>
          </a:bodyPr>
          <a:p>
            <a:r>
              <a:rPr lang="zh-CN" altLang="en-US" sz="3600">
                <a:latin typeface="楷体" panose="02010609060101010101" charset="-122"/>
                <a:ea typeface="楷体" panose="02010609060101010101" charset="-122"/>
              </a:rPr>
              <a:t>七夕</a:t>
            </a:r>
            <a:endParaRPr lang="zh-CN" altLang="en-US" sz="3600">
              <a:latin typeface="楷体" panose="02010609060101010101" charset="-122"/>
              <a:ea typeface="楷体" panose="02010609060101010101"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7"/>
                                        </p:tgtEl>
                                        <p:attrNameLst>
                                          <p:attrName>style.visibility</p:attrName>
                                        </p:attrNameLst>
                                      </p:cBhvr>
                                      <p:to>
                                        <p:strVal val="visible"/>
                                      </p:to>
                                    </p:set>
                                    <p:anim calcmode="discrete" valueType="clr">
                                      <p:cBhvr override="childStyle">
                                        <p:cTn id="7" dur="80"/>
                                        <p:tgtEl>
                                          <p:spTgt spid="7"/>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7"/>
                                        </p:tgtEl>
                                        <p:attrNameLst>
                                          <p:attrName>fillcolor</p:attrName>
                                        </p:attrNameLst>
                                      </p:cBhvr>
                                      <p:tavLst>
                                        <p:tav tm="0">
                                          <p:val>
                                            <p:clrVal>
                                              <a:schemeClr val="accent2"/>
                                            </p:clrVal>
                                          </p:val>
                                        </p:tav>
                                        <p:tav tm="50000">
                                          <p:val>
                                            <p:clrVal>
                                              <a:schemeClr val="hlink"/>
                                            </p:clrVal>
                                          </p:val>
                                        </p:tav>
                                      </p:tavLst>
                                    </p:anim>
                                    <p:set>
                                      <p:cBhvr>
                                        <p:cTn id="9" dur="80"/>
                                        <p:tgtEl>
                                          <p:spTgt spid="7"/>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heel(1)">
                                      <p:cBhvr>
                                        <p:cTn id="14"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4" grpId="0"/>
      <p:bldP spid="4" grpId="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102" name="图片 101"/>
          <p:cNvPicPr/>
          <p:nvPr/>
        </p:nvPicPr>
        <p:blipFill>
          <a:blip r:embed="rId1"/>
          <a:srcRect r="3002"/>
          <a:stretch>
            <a:fillRect/>
          </a:stretch>
        </p:blipFill>
        <p:spPr>
          <a:xfrm>
            <a:off x="2924175" y="528955"/>
            <a:ext cx="6343650" cy="5800090"/>
          </a:xfrm>
          <a:prstGeom prst="rect">
            <a:avLst/>
          </a:prstGeom>
          <a:noFill/>
          <a:ln w="9525">
            <a:noFill/>
          </a:ln>
        </p:spPr>
      </p:pic>
      <p:sp>
        <p:nvSpPr>
          <p:cNvPr id="2" name="文本框 1"/>
          <p:cNvSpPr txBox="1"/>
          <p:nvPr/>
        </p:nvSpPr>
        <p:spPr>
          <a:xfrm>
            <a:off x="8183880" y="4695190"/>
            <a:ext cx="3108325" cy="1198880"/>
          </a:xfrm>
          <a:prstGeom prst="rect">
            <a:avLst/>
          </a:prstGeom>
          <a:noFill/>
        </p:spPr>
        <p:txBody>
          <a:bodyPr wrap="square" rtlCol="0">
            <a:spAutoFit/>
          </a:bodyPr>
          <a:p>
            <a:r>
              <a:rPr lang="en-US" altLang="zh-CN" sz="7200">
                <a:latin typeface="楷体" panose="02010609060101010101" charset="-122"/>
                <a:ea typeface="楷体" panose="02010609060101010101" charset="-122"/>
                <a:cs typeface="楷体" panose="02010609060101010101" charset="-122"/>
              </a:rPr>
              <a:t>7.</a:t>
            </a:r>
            <a:r>
              <a:rPr lang="zh-CN" altLang="en-US" sz="7200">
                <a:latin typeface="楷体" panose="02010609060101010101" charset="-122"/>
                <a:ea typeface="楷体" panose="02010609060101010101" charset="-122"/>
                <a:cs typeface="楷体" panose="02010609060101010101" charset="-122"/>
              </a:rPr>
              <a:t>中秋</a:t>
            </a:r>
            <a:endParaRPr lang="zh-CN" altLang="en-US" sz="7200">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p:nvPr/>
        </p:nvPicPr>
        <p:blipFill>
          <a:blip r:embed="rId1"/>
          <a:srcRect r="3002"/>
          <a:stretch>
            <a:fillRect/>
          </a:stretch>
        </p:blipFill>
        <p:spPr>
          <a:xfrm>
            <a:off x="0" y="-142240"/>
            <a:ext cx="4593590" cy="4200525"/>
          </a:xfrm>
          <a:prstGeom prst="rect">
            <a:avLst/>
          </a:prstGeom>
          <a:noFill/>
          <a:ln w="9525">
            <a:noFill/>
          </a:ln>
        </p:spPr>
      </p:pic>
      <p:sp>
        <p:nvSpPr>
          <p:cNvPr id="4" name="文本框 3"/>
          <p:cNvSpPr txBox="1"/>
          <p:nvPr/>
        </p:nvSpPr>
        <p:spPr>
          <a:xfrm>
            <a:off x="4265930" y="1674495"/>
            <a:ext cx="7669530" cy="3815080"/>
          </a:xfrm>
          <a:prstGeom prst="rect">
            <a:avLst/>
          </a:prstGeom>
          <a:noFill/>
        </p:spPr>
        <p:txBody>
          <a:bodyPr wrap="square" rtlCol="0" anchor="t">
            <a:spAutoFit/>
          </a:bodyPr>
          <a:p>
            <a:pPr>
              <a:lnSpc>
                <a:spcPct val="100000"/>
              </a:lnSpc>
            </a:pPr>
            <a:r>
              <a:rPr lang="zh-CN" altLang="en-US" sz="2200">
                <a:latin typeface="楷体" panose="02010609060101010101" charset="-122"/>
                <a:ea typeface="楷体" panose="02010609060101010101" charset="-122"/>
                <a:cs typeface="楷体" panose="02010609060101010101" charset="-122"/>
              </a:rPr>
              <a:t>中秋节有悠久的历史，和其它传统节日一样，也是慢慢发展形成的，古代帝王有春天祭日，秋天祭月的礼制，早在《周礼》一书中，已有“中秋”一词的记载。后来贵族和文人学士也仿效起来，在中秋时节，对着天上又亮又圆一轮皓月，观赏祭拜，寄托情怀，这种习俗就这样传到民间，形成一个传统的活动，一直到了唐代，这种祭月的风俗更为人们重视，中秋节才成为固定的节日，《唐书·太宗记》记载有“八月十五中秋节”，这个节日盛行于宋朝，至明清时，已与元旦齐名，成为我国的主要节日之一。中秋节的传说是非常丰富的，嫦娥奔月，吴刚伐桂，玉兔捣药之类的神话故事流传甚广。</a:t>
            </a:r>
            <a:endParaRPr lang="zh-CN" altLang="en-US" sz="2200">
              <a:latin typeface="楷体" panose="02010609060101010101" charset="-122"/>
              <a:ea typeface="楷体" panose="02010609060101010101" charset="-122"/>
              <a:cs typeface="楷体" panose="02010609060101010101" charset="-122"/>
            </a:endParaRPr>
          </a:p>
        </p:txBody>
      </p:sp>
      <p:sp>
        <p:nvSpPr>
          <p:cNvPr id="7" name="文本框 6"/>
          <p:cNvSpPr txBox="1"/>
          <p:nvPr/>
        </p:nvSpPr>
        <p:spPr>
          <a:xfrm>
            <a:off x="6578600" y="905510"/>
            <a:ext cx="1810385" cy="645160"/>
          </a:xfrm>
          <a:prstGeom prst="rect">
            <a:avLst/>
          </a:prstGeom>
          <a:noFill/>
        </p:spPr>
        <p:txBody>
          <a:bodyPr wrap="square" rtlCol="0">
            <a:spAutoFit/>
          </a:bodyPr>
          <a:p>
            <a:r>
              <a:rPr lang="zh-CN" altLang="en-US" sz="3600">
                <a:latin typeface="楷体" panose="02010609060101010101" charset="-122"/>
                <a:ea typeface="楷体" panose="02010609060101010101" charset="-122"/>
              </a:rPr>
              <a:t>中秋</a:t>
            </a:r>
            <a:endParaRPr lang="zh-CN" altLang="en-US" sz="3600">
              <a:latin typeface="楷体" panose="02010609060101010101" charset="-122"/>
              <a:ea typeface="楷体" panose="02010609060101010101"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7"/>
                                        </p:tgtEl>
                                        <p:attrNameLst>
                                          <p:attrName>style.visibility</p:attrName>
                                        </p:attrNameLst>
                                      </p:cBhvr>
                                      <p:to>
                                        <p:strVal val="visible"/>
                                      </p:to>
                                    </p:set>
                                    <p:anim calcmode="discrete" valueType="clr">
                                      <p:cBhvr override="childStyle">
                                        <p:cTn id="7" dur="80"/>
                                        <p:tgtEl>
                                          <p:spTgt spid="7"/>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7"/>
                                        </p:tgtEl>
                                        <p:attrNameLst>
                                          <p:attrName>fillcolor</p:attrName>
                                        </p:attrNameLst>
                                      </p:cBhvr>
                                      <p:tavLst>
                                        <p:tav tm="0">
                                          <p:val>
                                            <p:clrVal>
                                              <a:schemeClr val="accent2"/>
                                            </p:clrVal>
                                          </p:val>
                                        </p:tav>
                                        <p:tav tm="50000">
                                          <p:val>
                                            <p:clrVal>
                                              <a:schemeClr val="hlink"/>
                                            </p:clrVal>
                                          </p:val>
                                        </p:tav>
                                      </p:tavLst>
                                    </p:anim>
                                    <p:set>
                                      <p:cBhvr>
                                        <p:cTn id="9" dur="80"/>
                                        <p:tgtEl>
                                          <p:spTgt spid="7"/>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heel(1)">
                                      <p:cBhvr>
                                        <p:cTn id="14"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4" grpId="0"/>
      <p:bldP spid="4" grpId="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102" name="图片 101"/>
          <p:cNvPicPr/>
          <p:nvPr/>
        </p:nvPicPr>
        <p:blipFill>
          <a:blip r:embed="rId1"/>
          <a:srcRect r="3002"/>
          <a:stretch>
            <a:fillRect/>
          </a:stretch>
        </p:blipFill>
        <p:spPr>
          <a:xfrm>
            <a:off x="2924175" y="528955"/>
            <a:ext cx="6343650" cy="5800090"/>
          </a:xfrm>
          <a:prstGeom prst="rect">
            <a:avLst/>
          </a:prstGeom>
          <a:noFill/>
          <a:ln w="9525">
            <a:noFill/>
          </a:ln>
        </p:spPr>
      </p:pic>
      <p:sp>
        <p:nvSpPr>
          <p:cNvPr id="2" name="文本框 1"/>
          <p:cNvSpPr txBox="1"/>
          <p:nvPr/>
        </p:nvSpPr>
        <p:spPr>
          <a:xfrm>
            <a:off x="8183880" y="4695190"/>
            <a:ext cx="3108325" cy="1198880"/>
          </a:xfrm>
          <a:prstGeom prst="rect">
            <a:avLst/>
          </a:prstGeom>
          <a:noFill/>
        </p:spPr>
        <p:txBody>
          <a:bodyPr wrap="square" rtlCol="0">
            <a:spAutoFit/>
          </a:bodyPr>
          <a:p>
            <a:r>
              <a:rPr lang="en-US" altLang="zh-CN" sz="7200">
                <a:latin typeface="楷体" panose="02010609060101010101" charset="-122"/>
                <a:ea typeface="楷体" panose="02010609060101010101" charset="-122"/>
                <a:cs typeface="楷体" panose="02010609060101010101" charset="-122"/>
              </a:rPr>
              <a:t>8.</a:t>
            </a:r>
            <a:r>
              <a:rPr lang="zh-CN" altLang="en-US" sz="7200">
                <a:latin typeface="楷体" panose="02010609060101010101" charset="-122"/>
                <a:ea typeface="楷体" panose="02010609060101010101" charset="-122"/>
                <a:cs typeface="楷体" panose="02010609060101010101" charset="-122"/>
              </a:rPr>
              <a:t>重阳</a:t>
            </a:r>
            <a:endParaRPr lang="zh-CN" altLang="en-US" sz="7200">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p:nvPr/>
        </p:nvPicPr>
        <p:blipFill>
          <a:blip r:embed="rId1"/>
          <a:srcRect r="3002"/>
          <a:stretch>
            <a:fillRect/>
          </a:stretch>
        </p:blipFill>
        <p:spPr>
          <a:xfrm>
            <a:off x="0" y="-142240"/>
            <a:ext cx="4593590" cy="4200525"/>
          </a:xfrm>
          <a:prstGeom prst="rect">
            <a:avLst/>
          </a:prstGeom>
          <a:noFill/>
          <a:ln w="9525">
            <a:noFill/>
          </a:ln>
        </p:spPr>
      </p:pic>
      <p:sp>
        <p:nvSpPr>
          <p:cNvPr id="4" name="文本框 3"/>
          <p:cNvSpPr txBox="1"/>
          <p:nvPr/>
        </p:nvSpPr>
        <p:spPr>
          <a:xfrm>
            <a:off x="4265930" y="1674495"/>
            <a:ext cx="7669530" cy="4492625"/>
          </a:xfrm>
          <a:prstGeom prst="rect">
            <a:avLst/>
          </a:prstGeom>
          <a:noFill/>
        </p:spPr>
        <p:txBody>
          <a:bodyPr wrap="square" rtlCol="0" anchor="t">
            <a:spAutoFit/>
          </a:bodyPr>
          <a:p>
            <a:pPr>
              <a:lnSpc>
                <a:spcPct val="100000"/>
              </a:lnSpc>
            </a:pPr>
            <a:r>
              <a:rPr lang="zh-CN" altLang="en-US" sz="2200">
                <a:latin typeface="楷体" panose="02010609060101010101" charset="-122"/>
                <a:ea typeface="楷体" panose="02010609060101010101" charset="-122"/>
                <a:cs typeface="楷体" panose="02010609060101010101" charset="-122"/>
              </a:rPr>
              <a:t>重阳节的起源九九重阳，早在春秋战国时的《楚词》中已提到了。屈原的《远游》里写道：“集重阳入帝宫兮，造旬始而观清都”。这里的“重阳”是指天，还不是指节日。三国时魏文帝曹丕《九日与钟繇书》中，则已明确写出重阳的饮宴了：“岁往月来，忽复九月九日。九为阳数，而日月并应，俗嘉其名，以为宜于长久，故以享宴高会。”</a:t>
            </a:r>
            <a:endParaRPr lang="zh-CN" altLang="en-US" sz="2200">
              <a:latin typeface="楷体" panose="02010609060101010101" charset="-122"/>
              <a:ea typeface="楷体" panose="02010609060101010101" charset="-122"/>
              <a:cs typeface="楷体" panose="02010609060101010101" charset="-122"/>
            </a:endParaRPr>
          </a:p>
          <a:p>
            <a:pPr>
              <a:lnSpc>
                <a:spcPct val="100000"/>
              </a:lnSpc>
            </a:pPr>
            <a:r>
              <a:rPr lang="zh-CN" altLang="en-US" sz="2200">
                <a:latin typeface="楷体" panose="02010609060101010101" charset="-122"/>
                <a:ea typeface="楷体" panose="02010609060101010101" charset="-122"/>
                <a:cs typeface="楷体" panose="02010609060101010101" charset="-122"/>
              </a:rPr>
              <a:t>　　晋代文人陶渊明在《九日闲居》诗序文中说：“余闲居，爱重九之名。秋菊盈园，而持醪靡由，空服九华，寄怀于言”。这里同时提到菊花和酒。大概在魏晋时期，重阳日已有了饮酒、赏菊的做法。到了唐代重阳被正式定为民间的节日。</a:t>
            </a:r>
            <a:endParaRPr lang="zh-CN" altLang="en-US" sz="2200">
              <a:latin typeface="楷体" panose="02010609060101010101" charset="-122"/>
              <a:ea typeface="楷体" panose="02010609060101010101" charset="-122"/>
              <a:cs typeface="楷体" panose="02010609060101010101" charset="-122"/>
            </a:endParaRPr>
          </a:p>
          <a:p>
            <a:pPr>
              <a:lnSpc>
                <a:spcPct val="100000"/>
              </a:lnSpc>
            </a:pPr>
            <a:r>
              <a:rPr lang="zh-CN" altLang="en-US" sz="2200">
                <a:latin typeface="楷体" panose="02010609060101010101" charset="-122"/>
                <a:ea typeface="楷体" panose="02010609060101010101" charset="-122"/>
                <a:cs typeface="楷体" panose="02010609060101010101" charset="-122"/>
              </a:rPr>
              <a:t>　　到明代，九月重阳，皇宫上下要一起吃花糕以庆贺，皇帝要亲自到万岁山登高，以畅秋志，此风俗一直流传到清代。</a:t>
            </a:r>
            <a:endParaRPr lang="zh-CN" altLang="en-US" sz="2200">
              <a:latin typeface="楷体" panose="02010609060101010101" charset="-122"/>
              <a:ea typeface="楷体" panose="02010609060101010101" charset="-122"/>
              <a:cs typeface="楷体" panose="02010609060101010101" charset="-122"/>
            </a:endParaRPr>
          </a:p>
        </p:txBody>
      </p:sp>
      <p:sp>
        <p:nvSpPr>
          <p:cNvPr id="7" name="文本框 6"/>
          <p:cNvSpPr txBox="1"/>
          <p:nvPr/>
        </p:nvSpPr>
        <p:spPr>
          <a:xfrm>
            <a:off x="6578600" y="905510"/>
            <a:ext cx="1810385" cy="645160"/>
          </a:xfrm>
          <a:prstGeom prst="rect">
            <a:avLst/>
          </a:prstGeom>
          <a:noFill/>
        </p:spPr>
        <p:txBody>
          <a:bodyPr wrap="square" rtlCol="0">
            <a:spAutoFit/>
          </a:bodyPr>
          <a:p>
            <a:r>
              <a:rPr lang="zh-CN" altLang="en-US" sz="3600">
                <a:latin typeface="楷体" panose="02010609060101010101" charset="-122"/>
                <a:ea typeface="楷体" panose="02010609060101010101" charset="-122"/>
              </a:rPr>
              <a:t>重阳</a:t>
            </a:r>
            <a:endParaRPr lang="zh-CN" altLang="en-US" sz="3600">
              <a:latin typeface="楷体" panose="02010609060101010101" charset="-122"/>
              <a:ea typeface="楷体" panose="02010609060101010101"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7"/>
                                        </p:tgtEl>
                                        <p:attrNameLst>
                                          <p:attrName>style.visibility</p:attrName>
                                        </p:attrNameLst>
                                      </p:cBhvr>
                                      <p:to>
                                        <p:strVal val="visible"/>
                                      </p:to>
                                    </p:set>
                                    <p:anim calcmode="discrete" valueType="clr">
                                      <p:cBhvr override="childStyle">
                                        <p:cTn id="7" dur="80"/>
                                        <p:tgtEl>
                                          <p:spTgt spid="7"/>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7"/>
                                        </p:tgtEl>
                                        <p:attrNameLst>
                                          <p:attrName>fillcolor</p:attrName>
                                        </p:attrNameLst>
                                      </p:cBhvr>
                                      <p:tavLst>
                                        <p:tav tm="0">
                                          <p:val>
                                            <p:clrVal>
                                              <a:schemeClr val="accent2"/>
                                            </p:clrVal>
                                          </p:val>
                                        </p:tav>
                                        <p:tav tm="50000">
                                          <p:val>
                                            <p:clrVal>
                                              <a:schemeClr val="hlink"/>
                                            </p:clrVal>
                                          </p:val>
                                        </p:tav>
                                      </p:tavLst>
                                    </p:anim>
                                    <p:set>
                                      <p:cBhvr>
                                        <p:cTn id="9" dur="80"/>
                                        <p:tgtEl>
                                          <p:spTgt spid="7"/>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heel(1)">
                                      <p:cBhvr>
                                        <p:cTn id="14"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4" grpId="0"/>
      <p:bldP spid="4" grpId="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102" name="图片 101"/>
          <p:cNvPicPr/>
          <p:nvPr/>
        </p:nvPicPr>
        <p:blipFill>
          <a:blip r:embed="rId1"/>
          <a:srcRect r="3002"/>
          <a:stretch>
            <a:fillRect/>
          </a:stretch>
        </p:blipFill>
        <p:spPr>
          <a:xfrm>
            <a:off x="2924175" y="528955"/>
            <a:ext cx="6343650" cy="5800090"/>
          </a:xfrm>
          <a:prstGeom prst="rect">
            <a:avLst/>
          </a:prstGeom>
          <a:noFill/>
          <a:ln w="9525">
            <a:noFill/>
          </a:ln>
        </p:spPr>
      </p:pic>
      <p:sp>
        <p:nvSpPr>
          <p:cNvPr id="2" name="文本框 1"/>
          <p:cNvSpPr txBox="1"/>
          <p:nvPr/>
        </p:nvSpPr>
        <p:spPr>
          <a:xfrm>
            <a:off x="4366895" y="4996180"/>
            <a:ext cx="3908425" cy="1198880"/>
          </a:xfrm>
          <a:prstGeom prst="rect">
            <a:avLst/>
          </a:prstGeom>
          <a:noFill/>
        </p:spPr>
        <p:txBody>
          <a:bodyPr wrap="square" rtlCol="0">
            <a:spAutoFit/>
          </a:bodyPr>
          <a:p>
            <a:r>
              <a:rPr lang="zh-CN" altLang="en-US" sz="7200">
                <a:latin typeface="楷体" panose="02010609060101010101" charset="-122"/>
                <a:ea typeface="楷体" panose="02010609060101010101" charset="-122"/>
                <a:cs typeface="楷体" panose="02010609060101010101" charset="-122"/>
              </a:rPr>
              <a:t>谢谢观看</a:t>
            </a:r>
            <a:endParaRPr lang="zh-CN" altLang="en-US" sz="7200">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p:wedge/>
      </p:transition>
    </mc:Choice>
    <mc:Fallback>
      <p:transition>
        <p:wedg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2497</Words>
  <Application>WPS 演示</Application>
  <PresentationFormat>宽屏</PresentationFormat>
  <Paragraphs>70</Paragraphs>
  <Slides>19</Slides>
  <Notes>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Arial</vt:lpstr>
      <vt:lpstr>宋体</vt:lpstr>
      <vt:lpstr>Wingdings</vt:lpstr>
      <vt:lpstr>Wingdings</vt:lpstr>
      <vt:lpstr>微软雅黑</vt:lpstr>
      <vt:lpstr>Arial Unicode MS</vt:lpstr>
      <vt:lpstr>Calibri</vt:lpstr>
      <vt:lpstr>French Script MT</vt:lpstr>
      <vt:lpstr>楷体</vt:lpstr>
      <vt:lpstr>仿宋</vt:lpstr>
      <vt:lpstr>Office 主题​​</vt:lpstr>
      <vt:lpstr>空白演示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刘艺轩</cp:lastModifiedBy>
  <cp:revision>152</cp:revision>
  <dcterms:created xsi:type="dcterms:W3CDTF">2019-06-19T02:08:00Z</dcterms:created>
  <dcterms:modified xsi:type="dcterms:W3CDTF">2022-06-11T07:00:39Z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2052-11.1.0.11744</vt:lpwstr>
  </property>
  <property fmtid="{D5CDD505-2E9C-101B-9397-08002B2CF9AE}" pid="3" name="ICV">
    <vt:lpwstr>C27FFC9FD3164AD4BAFD000293F489A4</vt:lpwstr>
  </property>
</Properties>
</file>